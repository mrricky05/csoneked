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3" r:id="rId6"/>
    <p:sldId id="265" r:id="rId7"/>
    <p:sldId id="266" r:id="rId8"/>
    <p:sldId id="268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7840"/>
    <a:srgbClr val="D9732F"/>
    <a:srgbClr val="CC79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2" dt="2026-10-26T15:02:12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78"/>
  </p:normalViewPr>
  <p:slideViewPr>
    <p:cSldViewPr snapToGrid="0">
      <p:cViewPr varScale="1">
        <p:scale>
          <a:sx n="109" d="100"/>
          <a:sy n="109" d="100"/>
        </p:scale>
        <p:origin x="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075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 látogatók egy kezdő weboldalra érkeznek, ahol a közelgő rendezvényeket tekinthetik meg.</a:t>
            </a:r>
            <a:endParaRPr lang="hu-HU">
              <a:solidFill>
                <a:srgbClr val="444444"/>
              </a:solidFill>
              <a:ea typeface="Calibri"/>
              <a:cs typeface="Calibri"/>
            </a:endParaRPr>
          </a:p>
          <a:p>
            <a:r>
              <a:rPr lang="hu-HU"/>
              <a:t>Név, dátum vagy kategória alapján kereshetnek az adott rendezvények között, valamint betekintést kapnak az egyes események részletes adatlapjára. Az adatlap tartalmazza a rendezvény nevét, leírását, időpontját, helyszínét, a jegyek árát és az elérhető férőhelyek számát.</a:t>
            </a:r>
            <a:endParaRPr lang="hu-HU">
              <a:solidFill>
                <a:srgbClr val="444444"/>
              </a:solidFill>
              <a:ea typeface="Calibri"/>
              <a:cs typeface="Calibri"/>
            </a:endParaRPr>
          </a:p>
          <a:p>
            <a:r>
              <a:rPr lang="hu-HU"/>
              <a:t>Ahhoz, hogy megkezdjék a jegyfoglalást regisztrálni kell, majd be kell jelentkezni a rendszerbe. </a:t>
            </a:r>
            <a:r>
              <a:rPr lang="hu-HU" err="1"/>
              <a:t>Bejelntkezést</a:t>
            </a:r>
            <a:r>
              <a:rPr lang="hu-HU"/>
              <a:t> követően kiválaszthatja a kívánt rendezvényt és a foglalni kívánt jegyek számát. A rendszer ellenőrzi a jegyeket, majd kiszámítja a </a:t>
            </a:r>
            <a:r>
              <a:rPr lang="hu-HU" err="1"/>
              <a:t>vegösszeget</a:t>
            </a:r>
            <a:r>
              <a:rPr lang="hu-HU"/>
              <a:t>. A foglalás lemondása is lehetséges adott körülmények alapján.</a:t>
            </a:r>
            <a:endParaRPr lang="hu-HU">
              <a:ea typeface="Calibri"/>
              <a:cs typeface="Calibri"/>
            </a:endParaRPr>
          </a:p>
          <a:p>
            <a:r>
              <a:rPr lang="hu-HU">
                <a:ea typeface="Calibri"/>
                <a:cs typeface="Calibri"/>
              </a:rPr>
              <a:t>Sikeres foglalás esetén elmentésre kerülnek az adatokat az adatbázisba, és csökkenti az elérhető jegyek számát.</a:t>
            </a:r>
          </a:p>
          <a:p>
            <a:r>
              <a:rPr lang="hu-HU">
                <a:ea typeface="Calibri"/>
                <a:cs typeface="Calibri"/>
              </a:rPr>
              <a:t>Az </a:t>
            </a:r>
            <a:r>
              <a:rPr lang="hu-HU" err="1">
                <a:ea typeface="Calibri"/>
                <a:cs typeface="Calibri"/>
              </a:rPr>
              <a:t>admin</a:t>
            </a:r>
            <a:r>
              <a:rPr lang="hu-HU">
                <a:ea typeface="Calibri"/>
                <a:cs typeface="Calibri"/>
              </a:rPr>
              <a:t> új eseményeket hozhat létre, módosíthatja a meglévő eseményeket, beállíthatja a jegyek árát, illetve a mennyiségét.</a:t>
            </a:r>
          </a:p>
          <a:p>
            <a:r>
              <a:rPr lang="hu-HU">
                <a:ea typeface="Calibri"/>
                <a:cs typeface="Calibri"/>
              </a:rPr>
              <a:t>A rendszer ellenőrzi a bevitt adatokat a felhasználó által és hibaüzenet érkezik, ha nincs elegendő szabad jegy.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BD799-74B3-4F1D-85A6-D69942EA3C57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56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hu-HU"/>
              <a:t>Patrik</a:t>
            </a:r>
          </a:p>
        </p:txBody>
      </p:sp>
    </p:spTree>
    <p:extLst>
      <p:ext uri="{BB962C8B-B14F-4D97-AF65-F5344CB8AC3E}">
        <p14:creationId xmlns:p14="http://schemas.microsoft.com/office/powerpoint/2010/main" val="1067714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0036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330337-48EE-88EC-6F85-EA517111C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E0B180A-DB7B-0D4B-A30E-EBBEE20DC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25D8C19-B638-BAB7-4314-A4EE3A99D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EC25-BAC1-41F5-9DA9-8E644CB8E9F2}" type="datetimeFigureOut">
              <a:rPr lang="hu-HU" smtClean="0"/>
              <a:t>2026. 10. 31.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62031A9-ADFD-9E6B-F927-0574E2155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A95B763-3046-B0DE-61E3-7C3DF58A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D52E-39E3-4BCD-B1C7-2B0BEABAF2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2183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E53B5E-F6BB-BA91-70D1-D5715EFA6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0206A6-B64D-941F-FD29-2ED029B00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10A5D45-F6E9-323A-F481-9B275B745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EC25-BAC1-41F5-9DA9-8E644CB8E9F2}" type="datetimeFigureOut">
              <a:rPr lang="hu-HU" smtClean="0"/>
              <a:t>2026. 10. 31.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3B927E1-79D3-D464-0F20-C70EE5D3F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1E9B08F-D838-8A5C-9BDD-5F0FFC52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D52E-39E3-4BCD-B1C7-2B0BEABAF2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7847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E858DC-DBF7-29F9-80F4-DDC17F4D0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AB9A576-9470-F4EB-807C-2028BB4AE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303A796-0AC2-A38A-E8E8-E7D05B48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EC25-BAC1-41F5-9DA9-8E644CB8E9F2}" type="datetimeFigureOut">
              <a:rPr lang="hu-HU" smtClean="0"/>
              <a:t>2026. 10. 31.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2077D8C-5573-4625-4E8A-C59735B0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7AD297F-17AB-87D2-13C0-250B16E5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D52E-39E3-4BCD-B1C7-2B0BEABAF2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6513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F7AAD8-2DC3-0EB0-13BB-C509A193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BB457F-E345-12D3-0071-21688C9A6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540A353-41ED-7528-2C40-5407D2A6F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77841BA-A834-955C-BC6D-C30253E4C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EC25-BAC1-41F5-9DA9-8E644CB8E9F2}" type="datetimeFigureOut">
              <a:rPr lang="hu-HU" smtClean="0"/>
              <a:t>2026. 10. 31.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B575048-DE30-8393-0CB5-E2A31EDA4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897B0A1-DAB6-F5DF-77D0-285C1992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D52E-39E3-4BCD-B1C7-2B0BEABAF2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29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8133ED-D79D-BCFD-1206-446810037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747DA05-CC01-AC84-5A5F-43AA8DD95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E3E5CDE-575E-1C80-4F00-7C2A66728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06F6156-2519-F6B2-72AF-BDB5887F3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321CB1F-142D-85A7-ADBD-89AE7943D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8C6927B-2E2F-60AF-20A3-911FF456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EC25-BAC1-41F5-9DA9-8E644CB8E9F2}" type="datetimeFigureOut">
              <a:rPr lang="hu-HU" smtClean="0"/>
              <a:t>2026. 10. 31.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58617E1-E539-07F6-4D29-289705C23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69D465BB-86A3-1FB5-98EE-B0321D49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D52E-39E3-4BCD-B1C7-2B0BEABAF2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11421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7F08DC1-C90D-9749-26B1-EC1846F3E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8CC25E1-1CA4-4AD4-DE3C-C4EC378B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EC25-BAC1-41F5-9DA9-8E644CB8E9F2}" type="datetimeFigureOut">
              <a:rPr lang="hu-HU" smtClean="0"/>
              <a:t>2026. 10. 31.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B5AA654-6E26-7D65-5048-6AA727B8D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3F2EEBE-4D41-F097-CDC2-91435AF0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D52E-39E3-4BCD-B1C7-2B0BEABAF2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241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27E67F9E-043D-5207-B921-D731772EC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EC25-BAC1-41F5-9DA9-8E644CB8E9F2}" type="datetimeFigureOut">
              <a:rPr lang="hu-HU" smtClean="0"/>
              <a:t>2026. 10. 31.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224F94A-18F4-CB0F-3D80-5B9B159C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1022FE8-77C0-BA48-B515-71D0BC92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D52E-39E3-4BCD-B1C7-2B0BEABAF2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155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896CE2-2D9C-7F66-6863-F86DD226F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960EB2-C6CC-3D6A-5CEE-ABFDA4E27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2B6065B-DB56-66AF-CA26-A4B724A80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04C942E-3B23-ACB3-713F-7A123474A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EC25-BAC1-41F5-9DA9-8E644CB8E9F2}" type="datetimeFigureOut">
              <a:rPr lang="hu-HU" smtClean="0"/>
              <a:t>2026. 10. 31.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8561A8B-9A6C-3F27-8666-5075F4E8C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F805527-C6CF-27BA-2D2C-7C9237DE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D52E-39E3-4BCD-B1C7-2B0BEABAF2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7616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7DBBCB-B489-88CE-1F6B-0558256B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593CC51-29A8-A352-CE8D-AB5ED735337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FA178EA-EDBF-F59C-6794-229F9D146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3EBB059-FE58-0359-AAFB-7BE952133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EC25-BAC1-41F5-9DA9-8E644CB8E9F2}" type="datetimeFigureOut">
              <a:rPr lang="hu-HU" smtClean="0"/>
              <a:t>2026. 10. 31.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7B6D6F7-E862-90E1-3E86-D28EF0363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C4F9C0E-7961-0A47-3259-6EF3865D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D52E-39E3-4BCD-B1C7-2B0BEABAF2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510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1AC642-7923-0723-91B2-A3F27EB80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53071DF-AB01-B9C5-90AC-447934311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F2A0AD3-2D99-8246-F3C1-7C733D5B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EC25-BAC1-41F5-9DA9-8E644CB8E9F2}" type="datetimeFigureOut">
              <a:rPr lang="hu-HU" smtClean="0"/>
              <a:t>2026. 10. 31.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409F321-ACA8-7E9B-DBCC-D222EC32D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1C2CB0D-3ABD-1FCF-6473-8D91A3AF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D52E-39E3-4BCD-B1C7-2B0BEABAF2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255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7EFA9B3-7302-7E9F-690C-51AA258E6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F4B198E-849F-EA70-0DC5-5B1E70184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33B1372-CB62-FF28-9FAC-5E18432D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EC25-BAC1-41F5-9DA9-8E644CB8E9F2}" type="datetimeFigureOut">
              <a:rPr lang="hu-HU" smtClean="0"/>
              <a:t>2026. 10. 31.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E98009F-71E5-2625-41E6-52C32ADE3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02BF73F-3A12-1310-BE2A-18C3CD4CA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D52E-39E3-4BCD-B1C7-2B0BEABAF2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800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B18283F-D145-2DE2-97A8-904010EC4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1F31406-D6EE-3430-50D7-B35CEE2D6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1C744A-9D2D-1540-C10B-4D9FD5FD3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B8EC25-BAC1-41F5-9DA9-8E644CB8E9F2}" type="datetimeFigureOut">
              <a:rPr lang="hu-HU" smtClean="0"/>
              <a:t>2026. 10. 31.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DBED373-1994-FD53-CB00-71604551E1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6C47465-95CA-702A-459C-3EC7FE987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BD52E-39E3-4BCD-B1C7-2B0BEABAF28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5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3.wav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5.wav"/><Relationship Id="rId5" Type="http://schemas.openxmlformats.org/officeDocument/2006/relationships/image" Target="../media/image5.png"/><Relationship Id="rId4" Type="http://schemas.openxmlformats.org/officeDocument/2006/relationships/audio" Target="../media/audio6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8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8.wav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audio" Target="../media/audio9.wav"/><Relationship Id="rId3" Type="http://schemas.openxmlformats.org/officeDocument/2006/relationships/audio" Target="../media/audio9.wav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8.wav"/><Relationship Id="rId2" Type="http://schemas.openxmlformats.org/officeDocument/2006/relationships/audio" Target="../media/audio10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0.wav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A23143FD-B9CC-E219-890E-8B315F460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8760" y="6220815"/>
            <a:ext cx="9189720" cy="59436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hu-HU" sz="1600">
                <a:solidFill>
                  <a:srgbClr val="5C5C5C"/>
                </a:solidFill>
                <a:latin typeface="Aptos"/>
              </a:rPr>
              <a:t>Készítők: Fazekas Patrik, Barna Máté, Tölgyesi Kristóf, </a:t>
            </a:r>
            <a:r>
              <a:rPr lang="hu-HU" sz="1600" err="1">
                <a:solidFill>
                  <a:srgbClr val="5C5C5C"/>
                </a:solidFill>
                <a:latin typeface="Aptos"/>
              </a:rPr>
              <a:t>Dropka</a:t>
            </a:r>
            <a:r>
              <a:rPr lang="hu-HU" sz="1600">
                <a:solidFill>
                  <a:srgbClr val="5C5C5C"/>
                </a:solidFill>
                <a:latin typeface="Aptos"/>
              </a:rPr>
              <a:t> </a:t>
            </a:r>
            <a:r>
              <a:rPr lang="hu-HU" sz="1600" err="1">
                <a:solidFill>
                  <a:srgbClr val="5C5C5C"/>
                </a:solidFill>
                <a:latin typeface="Aptos"/>
              </a:rPr>
              <a:t>Alíz</a:t>
            </a:r>
            <a:endParaRPr lang="hu-HU" sz="1600">
              <a:solidFill>
                <a:srgbClr val="5C5C5C"/>
              </a:solidFill>
              <a:latin typeface="Aptos"/>
            </a:endParaRPr>
          </a:p>
        </p:txBody>
      </p:sp>
      <p:sp>
        <p:nvSpPr>
          <p:cNvPr id="12" name="VIS_1_ACCENT_A"/>
          <p:cNvSpPr/>
          <p:nvPr/>
        </p:nvSpPr>
        <p:spPr>
          <a:xfrm>
            <a:off x="0" y="0"/>
            <a:ext cx="1051560" cy="109728"/>
          </a:xfrm>
          <a:prstGeom prst="rect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VIS_1_ACCENT_B"/>
          <p:cNvSpPr/>
          <p:nvPr/>
        </p:nvSpPr>
        <p:spPr>
          <a:xfrm>
            <a:off x="11137392" y="6748272"/>
            <a:ext cx="1051560" cy="109728"/>
          </a:xfrm>
          <a:prstGeom prst="rect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Kép 13" descr="1 kép generálva">
            <a:extLst>
              <a:ext uri="{FF2B5EF4-FFF2-40B4-BE49-F238E27FC236}">
                <a16:creationId xmlns:a16="http://schemas.microsoft.com/office/drawing/2014/main" id="{C2AAD675-1F60-CB32-8D49-108F6BCA2D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62455" y="-165444"/>
            <a:ext cx="5863163" cy="5863163"/>
          </a:xfrm>
          <a:prstGeom prst="rect">
            <a:avLst/>
          </a:prstGeom>
        </p:spPr>
      </p:pic>
      <p:sp>
        <p:nvSpPr>
          <p:cNvPr id="15" name="Szövegdoboz 14">
            <a:extLst>
              <a:ext uri="{FF2B5EF4-FFF2-40B4-BE49-F238E27FC236}">
                <a16:creationId xmlns:a16="http://schemas.microsoft.com/office/drawing/2014/main" id="{94713B9D-685B-1555-8E9B-443F73ECC24B}"/>
              </a:ext>
            </a:extLst>
          </p:cNvPr>
          <p:cNvSpPr txBox="1"/>
          <p:nvPr/>
        </p:nvSpPr>
        <p:spPr>
          <a:xfrm>
            <a:off x="6499154" y="4804082"/>
            <a:ext cx="1535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err="1">
                <a:solidFill>
                  <a:schemeClr val="bg1">
                    <a:lumMod val="50000"/>
                  </a:schemeClr>
                </a:solidFill>
              </a:rPr>
              <a:t>by</a:t>
            </a:r>
            <a:r>
              <a:rPr lang="hu-HU" b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hu-HU" b="1" err="1">
                <a:solidFill>
                  <a:schemeClr val="bg1">
                    <a:lumMod val="50000"/>
                  </a:schemeClr>
                </a:solidFill>
              </a:rPr>
              <a:t>Csőneked</a:t>
            </a:r>
            <a:endParaRPr lang="hu-HU" b="1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18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  <p:sndAc>
          <p:stSnd>
            <p:snd r:embed="rId2" name="bomb.wav"/>
          </p:stSnd>
        </p:sndAc>
      </p:transition>
    </mc:Choice>
    <mc:Fallback xmlns="">
      <p:transition spd="slow">
        <p:fade/>
        <p:sndAc>
          <p:stSnd>
            <p:snd r:embed="rId4" name="bomb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7A416-CCCA-578F-7C8C-E6B5FA3EB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pPr algn="ctr"/>
            <a:r>
              <a:rPr lang="hu-HU" sz="5400">
                <a:solidFill>
                  <a:srgbClr val="FFFFFF"/>
                </a:solidFill>
              </a:rPr>
              <a:t>Rendezvény- és Jegyfoglalási portál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6466B-57CF-F4B2-A4E4-41EBE4ED0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79" y="2816352"/>
            <a:ext cx="5212067" cy="2578608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just">
              <a:buFont typeface="Wingdings" panose="020B0604020202020204" pitchFamily="34" charset="0"/>
              <a:buChar char="Ø"/>
            </a:pPr>
            <a:r>
              <a:rPr lang="hu-HU" sz="1700">
                <a:solidFill>
                  <a:srgbClr val="1C1C1C"/>
                </a:solidFill>
                <a:latin typeface="Aptos"/>
              </a:rPr>
              <a:t>A </a:t>
            </a:r>
            <a:r>
              <a:rPr lang="hu-HU" sz="1700" b="1">
                <a:solidFill>
                  <a:srgbClr val="1C1C1C"/>
                </a:solidFill>
                <a:latin typeface="Aptos"/>
              </a:rPr>
              <a:t>projekt célja</a:t>
            </a:r>
            <a:r>
              <a:rPr lang="hu-HU" sz="1700">
                <a:solidFill>
                  <a:srgbClr val="1C1C1C"/>
                </a:solidFill>
                <a:latin typeface="Aptos"/>
              </a:rPr>
              <a:t> egy webalapú rendezvény- és jegyfoglalási portál fejlesztése, amely lehetővé teszi a felhasználók számára a különböző rendezvények egyszerű böngészését, keresését és a hozzájuk tartozó jegyek lefoglalását.</a:t>
            </a:r>
            <a:endParaRPr lang="en-US"/>
          </a:p>
        </p:txBody>
      </p:sp>
      <p:sp>
        <p:nvSpPr>
          <p:cNvPr id="11" name="VIS_2_KICKER"/>
          <p:cNvSpPr txBox="1"/>
          <p:nvPr/>
        </p:nvSpPr>
        <p:spPr>
          <a:xfrm>
            <a:off x="6492240" y="2715923"/>
            <a:ext cx="438912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E5319"/>
                </a:solidFill>
                <a:latin typeface="Aptos"/>
              </a:rPr>
              <a:t>A FELHASZNÁLÓ ÚTJA</a:t>
            </a:r>
          </a:p>
        </p:txBody>
      </p:sp>
      <p:cxnSp>
        <p:nvCxnSpPr>
          <p:cNvPr id="12" name="VIS_2_LINE"/>
          <p:cNvCxnSpPr/>
          <p:nvPr/>
        </p:nvCxnSpPr>
        <p:spPr>
          <a:xfrm>
            <a:off x="6967728" y="3356428"/>
            <a:ext cx="0" cy="2286000"/>
          </a:xfrm>
          <a:prstGeom prst="line">
            <a:avLst/>
          </a:prstGeom>
          <a:ln w="25400">
            <a:solidFill>
              <a:srgbClr val="F2B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S_2_NODE_1"/>
          <p:cNvSpPr/>
          <p:nvPr/>
        </p:nvSpPr>
        <p:spPr>
          <a:xfrm>
            <a:off x="6656832" y="3200980"/>
            <a:ext cx="621792" cy="621792"/>
          </a:xfrm>
          <a:prstGeom prst="ellipse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VIS_2_TEXT_1"/>
          <p:cNvSpPr txBox="1"/>
          <p:nvPr/>
        </p:nvSpPr>
        <p:spPr>
          <a:xfrm>
            <a:off x="7543800" y="3200107"/>
            <a:ext cx="3794760" cy="58580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000" b="1" err="1">
                <a:solidFill>
                  <a:srgbClr val="1C1C1C"/>
                </a:solidFill>
                <a:latin typeface="Aptos"/>
              </a:rPr>
              <a:t>Böngészés</a:t>
            </a:r>
            <a:endParaRPr sz="2000" b="1">
              <a:solidFill>
                <a:srgbClr val="1C1C1C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400" b="0" err="1">
                <a:solidFill>
                  <a:srgbClr val="5C5C5C"/>
                </a:solidFill>
                <a:latin typeface="Aptos"/>
              </a:rPr>
              <a:t>Rendezvények</a:t>
            </a:r>
            <a:r>
              <a:rPr sz="1400" b="0">
                <a:solidFill>
                  <a:srgbClr val="5C5C5C"/>
                </a:solidFill>
                <a:latin typeface="Aptos"/>
              </a:rPr>
              <a:t> </a:t>
            </a:r>
            <a:r>
              <a:rPr sz="1400" b="0" err="1">
                <a:solidFill>
                  <a:srgbClr val="5C5C5C"/>
                </a:solidFill>
                <a:latin typeface="Aptos"/>
              </a:rPr>
              <a:t>áttekintése</a:t>
            </a:r>
            <a:endParaRPr sz="1400" b="0">
              <a:solidFill>
                <a:srgbClr val="5C5C5C"/>
              </a:solidFill>
              <a:latin typeface="Aptos"/>
            </a:endParaRPr>
          </a:p>
        </p:txBody>
      </p:sp>
      <p:sp>
        <p:nvSpPr>
          <p:cNvPr id="15" name="VIS_2_NODE_2"/>
          <p:cNvSpPr/>
          <p:nvPr/>
        </p:nvSpPr>
        <p:spPr>
          <a:xfrm>
            <a:off x="6656832" y="4279972"/>
            <a:ext cx="621792" cy="621792"/>
          </a:xfrm>
          <a:prstGeom prst="ellipse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VIS_2_TEXT_2"/>
          <p:cNvSpPr txBox="1"/>
          <p:nvPr/>
        </p:nvSpPr>
        <p:spPr>
          <a:xfrm>
            <a:off x="7543800" y="4279099"/>
            <a:ext cx="3794760" cy="58580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000" b="1" err="1">
                <a:solidFill>
                  <a:srgbClr val="1C1C1C"/>
                </a:solidFill>
                <a:latin typeface="Aptos"/>
              </a:rPr>
              <a:t>Keresés</a:t>
            </a:r>
            <a:endParaRPr sz="2000" b="1">
              <a:solidFill>
                <a:srgbClr val="1C1C1C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Aptos"/>
              </a:rPr>
              <a:t>A </a:t>
            </a:r>
            <a:r>
              <a:rPr sz="1400" b="0" err="1">
                <a:solidFill>
                  <a:srgbClr val="5C5C5C"/>
                </a:solidFill>
                <a:latin typeface="Aptos"/>
              </a:rPr>
              <a:t>megfelelő</a:t>
            </a:r>
            <a:r>
              <a:rPr sz="1400" b="0">
                <a:solidFill>
                  <a:srgbClr val="5C5C5C"/>
                </a:solidFill>
                <a:latin typeface="Aptos"/>
              </a:rPr>
              <a:t> </a:t>
            </a:r>
            <a:r>
              <a:rPr sz="1400" b="0" err="1">
                <a:solidFill>
                  <a:srgbClr val="5C5C5C"/>
                </a:solidFill>
                <a:latin typeface="Aptos"/>
              </a:rPr>
              <a:t>esemény</a:t>
            </a:r>
            <a:r>
              <a:rPr sz="1400" b="0">
                <a:solidFill>
                  <a:srgbClr val="5C5C5C"/>
                </a:solidFill>
                <a:latin typeface="Aptos"/>
              </a:rPr>
              <a:t> </a:t>
            </a:r>
            <a:r>
              <a:rPr sz="1400" b="0" err="1">
                <a:solidFill>
                  <a:srgbClr val="5C5C5C"/>
                </a:solidFill>
                <a:latin typeface="Aptos"/>
              </a:rPr>
              <a:t>megtalálása</a:t>
            </a:r>
            <a:endParaRPr sz="1400" b="0">
              <a:solidFill>
                <a:srgbClr val="5C5C5C"/>
              </a:solidFill>
              <a:latin typeface="Aptos"/>
            </a:endParaRPr>
          </a:p>
        </p:txBody>
      </p:sp>
      <p:sp>
        <p:nvSpPr>
          <p:cNvPr id="17" name="VIS_2_NODE_3"/>
          <p:cNvSpPr/>
          <p:nvPr/>
        </p:nvSpPr>
        <p:spPr>
          <a:xfrm>
            <a:off x="6656832" y="5358964"/>
            <a:ext cx="621792" cy="621792"/>
          </a:xfrm>
          <a:prstGeom prst="ellipse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VIS_2_TEXT_3"/>
          <p:cNvSpPr txBox="1"/>
          <p:nvPr/>
        </p:nvSpPr>
        <p:spPr>
          <a:xfrm>
            <a:off x="7543800" y="5358091"/>
            <a:ext cx="3794760" cy="58580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000" b="1" err="1">
                <a:solidFill>
                  <a:srgbClr val="1C1C1C"/>
                </a:solidFill>
                <a:latin typeface="Aptos"/>
              </a:rPr>
              <a:t>Foglalás</a:t>
            </a:r>
            <a:endParaRPr sz="2000" b="1">
              <a:solidFill>
                <a:srgbClr val="1C1C1C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400" b="0" err="1">
                <a:solidFill>
                  <a:srgbClr val="5C5C5C"/>
                </a:solidFill>
                <a:latin typeface="Aptos"/>
              </a:rPr>
              <a:t>Jegy</a:t>
            </a:r>
            <a:r>
              <a:rPr sz="1400" b="0">
                <a:solidFill>
                  <a:srgbClr val="5C5C5C"/>
                </a:solidFill>
                <a:latin typeface="Aptos"/>
              </a:rPr>
              <a:t> </a:t>
            </a:r>
            <a:r>
              <a:rPr sz="1400" b="0" err="1">
                <a:solidFill>
                  <a:srgbClr val="5C5C5C"/>
                </a:solidFill>
                <a:latin typeface="Aptos"/>
              </a:rPr>
              <a:t>rögzítése</a:t>
            </a:r>
            <a:endParaRPr sz="1400" b="0">
              <a:solidFill>
                <a:srgbClr val="5C5C5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14391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  <p:sndAc>
          <p:stSnd>
            <p:snd r:embed="rId2" name="chimes.wav"/>
          </p:stSnd>
        </p:sndAc>
      </p:transition>
    </mc:Choice>
    <mc:Fallback xmlns="">
      <p:transition spd="slow">
        <p:dissolve/>
        <p:sndAc>
          <p:stSnd>
            <p:snd r:embed="rId3" name="chimes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4094-AA16-D1B5-D51E-B25456628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5400"/>
              <a:t>A projekt fő követelményei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640A89-E449-740F-108A-9B6FAEBADA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7568" y="2514600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6AA911-CF21-404D-5D91-A2413AE541E6}"/>
              </a:ext>
            </a:extLst>
          </p:cNvPr>
          <p:cNvSpPr txBox="1"/>
          <p:nvPr/>
        </p:nvSpPr>
        <p:spPr>
          <a:xfrm>
            <a:off x="826008" y="3648456"/>
            <a:ext cx="30175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C1C1C"/>
                </a:solidFill>
                <a:latin typeface="Aptos"/>
              </a:rPr>
              <a:t>Felhasználókezelés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B004F54-22F5-DE71-5F93-E423DBEB6B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9448" y="2514600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098717-5732-64EC-E44A-3A626511CCF2}"/>
              </a:ext>
            </a:extLst>
          </p:cNvPr>
          <p:cNvSpPr txBox="1"/>
          <p:nvPr/>
        </p:nvSpPr>
        <p:spPr>
          <a:xfrm>
            <a:off x="4172712" y="3643761"/>
            <a:ext cx="35478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C1C1C"/>
                </a:solidFill>
                <a:latin typeface="Aptos"/>
              </a:rPr>
              <a:t>Rendezvények kezelése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6973D65-5594-FB39-6C32-FAEEBE8719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01328" y="2514600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B1BFEF-16C8-AC42-9619-F6DEDC50AE1B}"/>
              </a:ext>
            </a:extLst>
          </p:cNvPr>
          <p:cNvSpPr txBox="1"/>
          <p:nvPr/>
        </p:nvSpPr>
        <p:spPr>
          <a:xfrm>
            <a:off x="8049768" y="3648456"/>
            <a:ext cx="30175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C1C1C"/>
                </a:solidFill>
                <a:latin typeface="Aptos"/>
              </a:rPr>
              <a:t>Jegyfoglalás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E8A328-8F1C-F848-3962-DFE7BCACABB0}"/>
              </a:ext>
            </a:extLst>
          </p:cNvPr>
          <p:cNvSpPr/>
          <p:nvPr/>
        </p:nvSpPr>
        <p:spPr>
          <a:xfrm>
            <a:off x="643759" y="558362"/>
            <a:ext cx="118241" cy="939361"/>
          </a:xfrm>
          <a:prstGeom prst="rect">
            <a:avLst/>
          </a:prstGeom>
          <a:solidFill>
            <a:srgbClr val="D9732F"/>
          </a:solidFill>
          <a:ln>
            <a:solidFill>
              <a:srgbClr val="D973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VIS_3_DETAIL_1"/>
          <p:cNvSpPr txBox="1">
            <a:spLocks/>
          </p:cNvSpPr>
          <p:nvPr/>
        </p:nvSpPr>
        <p:spPr>
          <a:xfrm>
            <a:off x="762000" y="4497329"/>
            <a:ext cx="3145536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b="0">
                <a:solidFill>
                  <a:srgbClr val="5C5C5C"/>
                </a:solidFill>
                <a:latin typeface="Aptos"/>
              </a:rPr>
              <a:t>Regisztráció • bejelentkezés</a:t>
            </a:r>
          </a:p>
        </p:txBody>
      </p:sp>
      <p:sp>
        <p:nvSpPr>
          <p:cNvPr id="14" name="VIS_3_DETAIL_2"/>
          <p:cNvSpPr txBox="1">
            <a:spLocks/>
          </p:cNvSpPr>
          <p:nvPr/>
        </p:nvSpPr>
        <p:spPr>
          <a:xfrm>
            <a:off x="4373880" y="4497329"/>
            <a:ext cx="3145536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b="0">
                <a:solidFill>
                  <a:srgbClr val="5C5C5C"/>
                </a:solidFill>
                <a:latin typeface="Aptos"/>
              </a:rPr>
              <a:t>Létrehozás • módosítás • törlés</a:t>
            </a:r>
          </a:p>
        </p:txBody>
      </p:sp>
      <p:sp>
        <p:nvSpPr>
          <p:cNvPr id="16" name="VIS_3_DETAIL_3"/>
          <p:cNvSpPr txBox="1"/>
          <p:nvPr/>
        </p:nvSpPr>
        <p:spPr>
          <a:xfrm>
            <a:off x="7985760" y="4497329"/>
            <a:ext cx="342900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b="0">
                <a:solidFill>
                  <a:srgbClr val="5C5C5C"/>
                </a:solidFill>
                <a:latin typeface="Aptos"/>
              </a:rPr>
              <a:t>Kapacitás • foglalás </a:t>
            </a:r>
            <a:r>
              <a:rPr b="0">
                <a:solidFill>
                  <a:srgbClr val="5C5C5C"/>
                </a:solidFill>
                <a:latin typeface="Aptos"/>
              </a:rPr>
              <a:t>• </a:t>
            </a:r>
            <a:r>
              <a:rPr lang="hu-HU" b="0">
                <a:solidFill>
                  <a:srgbClr val="5C5C5C"/>
                </a:solidFill>
                <a:latin typeface="Aptos"/>
              </a:rPr>
              <a:t>lemondás</a:t>
            </a:r>
            <a:endParaRPr b="0">
              <a:solidFill>
                <a:srgbClr val="5C5C5C"/>
              </a:solidFill>
              <a:latin typeface="Aptos"/>
            </a:endParaRPr>
          </a:p>
        </p:txBody>
      </p:sp>
      <p:cxnSp>
        <p:nvCxnSpPr>
          <p:cNvPr id="18" name="VIS_3_BASE"/>
          <p:cNvCxnSpPr/>
          <p:nvPr/>
        </p:nvCxnSpPr>
        <p:spPr>
          <a:xfrm>
            <a:off x="1328928" y="5093208"/>
            <a:ext cx="10085832" cy="0"/>
          </a:xfrm>
          <a:prstGeom prst="line">
            <a:avLst/>
          </a:prstGeom>
          <a:ln w="12700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045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  <p:sndAc>
          <p:stSnd>
            <p:snd r:embed="rId2" name="suction.wav"/>
          </p:stSnd>
        </p:sndAc>
      </p:transition>
    </mc:Choice>
    <mc:Fallback xmlns="">
      <p:transition spd="slow">
        <p:fade/>
        <p:sndAc>
          <p:stSnd>
            <p:snd r:embed="rId6" name="suction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A46657-B220-751A-FDE4-CDB6C8450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hu-HU" sz="4000"/>
              <a:t>Célközönség/felhasználói kör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VIS_4_KICKER"/>
          <p:cNvSpPr txBox="1"/>
          <p:nvPr/>
        </p:nvSpPr>
        <p:spPr>
          <a:xfrm>
            <a:off x="7818120" y="2352871"/>
            <a:ext cx="329184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E5319"/>
                </a:solidFill>
                <a:latin typeface="Aptos"/>
              </a:rPr>
              <a:t>HOZZÁFÉRÉSI SZINT</a:t>
            </a:r>
          </a:p>
        </p:txBody>
      </p:sp>
      <p:sp>
        <p:nvSpPr>
          <p:cNvPr id="16" name="VIS_4_NUM_1"/>
          <p:cNvSpPr txBox="1"/>
          <p:nvPr/>
        </p:nvSpPr>
        <p:spPr>
          <a:xfrm>
            <a:off x="1143000" y="2968489"/>
            <a:ext cx="50292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BE5319"/>
                </a:solidFill>
                <a:latin typeface="Aptos"/>
              </a:rPr>
              <a:t>3</a:t>
            </a:r>
          </a:p>
        </p:txBody>
      </p:sp>
      <p:sp>
        <p:nvSpPr>
          <p:cNvPr id="17" name="VIS_4_ROLE_1"/>
          <p:cNvSpPr txBox="1"/>
          <p:nvPr/>
        </p:nvSpPr>
        <p:spPr>
          <a:xfrm>
            <a:off x="1901952" y="2840318"/>
            <a:ext cx="5257800" cy="7315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900" b="1">
                <a:solidFill>
                  <a:srgbClr val="1C1C1C"/>
                </a:solidFill>
                <a:latin typeface="Aptos"/>
              </a:rPr>
              <a:t>Látogató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Aptos"/>
              </a:rPr>
              <a:t>Böngészés • eseményrészletek</a:t>
            </a:r>
          </a:p>
        </p:txBody>
      </p:sp>
      <p:sp>
        <p:nvSpPr>
          <p:cNvPr id="18" name="VIS_4_BAR_1"/>
          <p:cNvSpPr/>
          <p:nvPr/>
        </p:nvSpPr>
        <p:spPr>
          <a:xfrm>
            <a:off x="7818120" y="2995766"/>
            <a:ext cx="1417320" cy="219456"/>
          </a:xfrm>
          <a:prstGeom prst="rect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VIS_4_SEP_1"/>
          <p:cNvCxnSpPr/>
          <p:nvPr/>
        </p:nvCxnSpPr>
        <p:spPr>
          <a:xfrm>
            <a:off x="1143000" y="3782150"/>
            <a:ext cx="9829800" cy="0"/>
          </a:xfrm>
          <a:prstGeom prst="line">
            <a:avLst/>
          </a:prstGeom>
          <a:ln w="12700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_4_NUM_2"/>
          <p:cNvSpPr txBox="1"/>
          <p:nvPr/>
        </p:nvSpPr>
        <p:spPr>
          <a:xfrm>
            <a:off x="1143000" y="4202929"/>
            <a:ext cx="50292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BE5319"/>
                </a:solidFill>
                <a:latin typeface="Aptos"/>
              </a:rPr>
              <a:t>2</a:t>
            </a:r>
          </a:p>
        </p:txBody>
      </p:sp>
      <p:sp>
        <p:nvSpPr>
          <p:cNvPr id="21" name="VIS_4_ROLE_2"/>
          <p:cNvSpPr txBox="1"/>
          <p:nvPr/>
        </p:nvSpPr>
        <p:spPr>
          <a:xfrm>
            <a:off x="1901952" y="4074758"/>
            <a:ext cx="5257800" cy="7315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900" b="1">
                <a:solidFill>
                  <a:srgbClr val="1C1C1C"/>
                </a:solidFill>
                <a:latin typeface="Aptos"/>
              </a:rPr>
              <a:t>Regisztrált felhasználó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Aptos"/>
              </a:rPr>
              <a:t>Foglalás • megtekintés • lemondás</a:t>
            </a:r>
          </a:p>
        </p:txBody>
      </p:sp>
      <p:sp>
        <p:nvSpPr>
          <p:cNvPr id="22" name="VIS_4_BAR_2"/>
          <p:cNvSpPr/>
          <p:nvPr/>
        </p:nvSpPr>
        <p:spPr>
          <a:xfrm>
            <a:off x="7818120" y="4230206"/>
            <a:ext cx="2331720" cy="219456"/>
          </a:xfrm>
          <a:prstGeom prst="rect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VIS_4_SEP_2"/>
          <p:cNvCxnSpPr/>
          <p:nvPr/>
        </p:nvCxnSpPr>
        <p:spPr>
          <a:xfrm>
            <a:off x="1143000" y="5016590"/>
            <a:ext cx="9829800" cy="0"/>
          </a:xfrm>
          <a:prstGeom prst="line">
            <a:avLst/>
          </a:prstGeom>
          <a:ln w="12700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VIS_4_NUM_3"/>
          <p:cNvSpPr txBox="1"/>
          <p:nvPr/>
        </p:nvSpPr>
        <p:spPr>
          <a:xfrm>
            <a:off x="1143000" y="5437369"/>
            <a:ext cx="50292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BE5319"/>
                </a:solidFill>
                <a:latin typeface="Aptos"/>
              </a:rPr>
              <a:t>1</a:t>
            </a:r>
          </a:p>
        </p:txBody>
      </p:sp>
      <p:sp>
        <p:nvSpPr>
          <p:cNvPr id="25" name="VIS_4_ROLE_3"/>
          <p:cNvSpPr txBox="1"/>
          <p:nvPr/>
        </p:nvSpPr>
        <p:spPr>
          <a:xfrm>
            <a:off x="1901952" y="5309197"/>
            <a:ext cx="5257800" cy="7315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900" b="1">
                <a:solidFill>
                  <a:srgbClr val="1C1C1C"/>
                </a:solidFill>
                <a:latin typeface="Aptos"/>
              </a:rPr>
              <a:t>Admin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Aptos"/>
              </a:rPr>
              <a:t>Rendezvények és jegyek kezelése</a:t>
            </a:r>
          </a:p>
        </p:txBody>
      </p:sp>
      <p:sp>
        <p:nvSpPr>
          <p:cNvPr id="26" name="VIS_4_BAR_3"/>
          <p:cNvSpPr/>
          <p:nvPr/>
        </p:nvSpPr>
        <p:spPr>
          <a:xfrm>
            <a:off x="7818120" y="5464645"/>
            <a:ext cx="3337560" cy="219456"/>
          </a:xfrm>
          <a:prstGeom prst="rect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18504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  <p:sndAc>
          <p:stSnd>
            <p:snd r:embed="rId2" name="wind.wav"/>
          </p:stSnd>
        </p:sndAc>
      </p:transition>
    </mc:Choice>
    <mc:Fallback xmlns="">
      <p:transition spd="slow">
        <p:fade/>
        <p:sndAc>
          <p:stSnd>
            <p:snd r:embed="rId3" name="wind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9732F"/>
          </a:solidFill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04AF7-0923-B38D-7B12-AD456B1F1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hu-HU" sz="2800" b="1"/>
              <a:t>Tervezett működés</a:t>
            </a:r>
            <a:endParaRPr lang="hu-HU" sz="2800"/>
          </a:p>
          <a:p>
            <a:endParaRPr lang="en-US" sz="28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9732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VIS_5_SUMMARY"/>
          <p:cNvSpPr txBox="1"/>
          <p:nvPr/>
        </p:nvSpPr>
        <p:spPr>
          <a:xfrm>
            <a:off x="411480" y="2788920"/>
            <a:ext cx="3383280" cy="11430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1C1C"/>
                </a:solidFill>
                <a:latin typeface="Aptos"/>
              </a:rPr>
              <a:t>5 lépésben a kiválasztástól
a mentett foglalásig.</a:t>
            </a:r>
          </a:p>
        </p:txBody>
      </p:sp>
      <p:sp>
        <p:nvSpPr>
          <p:cNvPr id="53" name="VIS_5_KICKER"/>
          <p:cNvSpPr txBox="1"/>
          <p:nvPr/>
        </p:nvSpPr>
        <p:spPr>
          <a:xfrm>
            <a:off x="411480" y="4160520"/>
            <a:ext cx="34747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E5319"/>
                </a:solidFill>
                <a:latin typeface="Aptos"/>
              </a:rPr>
              <a:t>EGYSZERŰ • KÖVETHETŐ • ELLENŐRZÖTT</a:t>
            </a:r>
          </a:p>
        </p:txBody>
      </p:sp>
      <p:cxnSp>
        <p:nvCxnSpPr>
          <p:cNvPr id="54" name="VIS_5_LINE"/>
          <p:cNvCxnSpPr/>
          <p:nvPr/>
        </p:nvCxnSpPr>
        <p:spPr>
          <a:xfrm>
            <a:off x="5212080" y="1417320"/>
            <a:ext cx="0" cy="4572000"/>
          </a:xfrm>
          <a:prstGeom prst="line">
            <a:avLst/>
          </a:prstGeom>
          <a:ln w="25400">
            <a:solidFill>
              <a:srgbClr val="F2B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VIS_5_NODE_1"/>
          <p:cNvSpPr/>
          <p:nvPr/>
        </p:nvSpPr>
        <p:spPr>
          <a:xfrm>
            <a:off x="4901184" y="1197864"/>
            <a:ext cx="621792" cy="621792"/>
          </a:xfrm>
          <a:prstGeom prst="ellipse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6" name="VIS_5_TEXT_1"/>
          <p:cNvSpPr txBox="1"/>
          <p:nvPr/>
        </p:nvSpPr>
        <p:spPr>
          <a:xfrm>
            <a:off x="5870448" y="1152144"/>
            <a:ext cx="5394960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solidFill>
                  <a:srgbClr val="1C1C1C"/>
                </a:solidFill>
                <a:latin typeface="Aptos"/>
              </a:rPr>
              <a:t>Felfedezés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5C5C5C"/>
                </a:solidFill>
                <a:latin typeface="Aptos"/>
              </a:rPr>
              <a:t>Böngészés és keresés</a:t>
            </a:r>
          </a:p>
        </p:txBody>
      </p:sp>
      <p:sp>
        <p:nvSpPr>
          <p:cNvPr id="57" name="VIS_5_NODE_2"/>
          <p:cNvSpPr/>
          <p:nvPr/>
        </p:nvSpPr>
        <p:spPr>
          <a:xfrm>
            <a:off x="4901184" y="2176272"/>
            <a:ext cx="621792" cy="621792"/>
          </a:xfrm>
          <a:prstGeom prst="ellipse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8" name="VIS_5_TEXT_2"/>
          <p:cNvSpPr txBox="1"/>
          <p:nvPr/>
        </p:nvSpPr>
        <p:spPr>
          <a:xfrm>
            <a:off x="5870448" y="2130552"/>
            <a:ext cx="5394960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solidFill>
                  <a:srgbClr val="1C1C1C"/>
                </a:solidFill>
                <a:latin typeface="Aptos"/>
              </a:rPr>
              <a:t>Részletek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5C5C5C"/>
                </a:solidFill>
                <a:latin typeface="Aptos"/>
              </a:rPr>
              <a:t>Eseményadatlap megtekintése</a:t>
            </a:r>
          </a:p>
        </p:txBody>
      </p:sp>
      <p:sp>
        <p:nvSpPr>
          <p:cNvPr id="59" name="VIS_5_NODE_3"/>
          <p:cNvSpPr/>
          <p:nvPr/>
        </p:nvSpPr>
        <p:spPr>
          <a:xfrm>
            <a:off x="4901184" y="3154680"/>
            <a:ext cx="621792" cy="621792"/>
          </a:xfrm>
          <a:prstGeom prst="ellipse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60" name="VIS_5_TEXT_3"/>
          <p:cNvSpPr txBox="1"/>
          <p:nvPr/>
        </p:nvSpPr>
        <p:spPr>
          <a:xfrm>
            <a:off x="5870448" y="3108960"/>
            <a:ext cx="5394960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solidFill>
                  <a:srgbClr val="1C1C1C"/>
                </a:solidFill>
                <a:latin typeface="Aptos"/>
              </a:rPr>
              <a:t>Azonosítás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5C5C5C"/>
                </a:solidFill>
                <a:latin typeface="Aptos"/>
              </a:rPr>
              <a:t>Regisztráció vagy bejelentkezés</a:t>
            </a:r>
          </a:p>
        </p:txBody>
      </p:sp>
      <p:sp>
        <p:nvSpPr>
          <p:cNvPr id="61" name="VIS_5_NODE_4"/>
          <p:cNvSpPr/>
          <p:nvPr/>
        </p:nvSpPr>
        <p:spPr>
          <a:xfrm>
            <a:off x="4901184" y="4133087"/>
            <a:ext cx="621792" cy="621792"/>
          </a:xfrm>
          <a:prstGeom prst="ellipse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62" name="VIS_5_TEXT_4"/>
          <p:cNvSpPr txBox="1"/>
          <p:nvPr/>
        </p:nvSpPr>
        <p:spPr>
          <a:xfrm>
            <a:off x="5870448" y="4087368"/>
            <a:ext cx="5394960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solidFill>
                  <a:srgbClr val="1C1C1C"/>
                </a:solidFill>
                <a:latin typeface="Aptos"/>
              </a:rPr>
              <a:t>Ellenőrzés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5C5C5C"/>
                </a:solidFill>
                <a:latin typeface="Aptos"/>
              </a:rPr>
              <a:t>Kapacitás vizsgálata</a:t>
            </a:r>
          </a:p>
        </p:txBody>
      </p:sp>
      <p:sp>
        <p:nvSpPr>
          <p:cNvPr id="63" name="VIS_5_NODE_5"/>
          <p:cNvSpPr/>
          <p:nvPr/>
        </p:nvSpPr>
        <p:spPr>
          <a:xfrm>
            <a:off x="4901184" y="5111496"/>
            <a:ext cx="621792" cy="621792"/>
          </a:xfrm>
          <a:prstGeom prst="ellipse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71087260-5EB6-B079-2AFA-5C4850746D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95249" y="-342692"/>
            <a:ext cx="7772398" cy="4338083"/>
          </a:xfrm>
          <a:prstGeom prst="rect">
            <a:avLst/>
          </a:prstGeom>
        </p:spPr>
      </p:pic>
      <p:sp>
        <p:nvSpPr>
          <p:cNvPr id="64" name="VIS_5_TEXT_5"/>
          <p:cNvSpPr txBox="1"/>
          <p:nvPr/>
        </p:nvSpPr>
        <p:spPr>
          <a:xfrm>
            <a:off x="5870448" y="5065776"/>
            <a:ext cx="5394960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solidFill>
                  <a:srgbClr val="1C1C1C"/>
                </a:solidFill>
                <a:latin typeface="Aptos"/>
              </a:rPr>
              <a:t>Mentés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5C5C5C"/>
                </a:solidFill>
                <a:latin typeface="Aptos"/>
              </a:rPr>
              <a:t>Végösszeg és foglalás rögzítése</a:t>
            </a:r>
          </a:p>
        </p:txBody>
      </p:sp>
    </p:spTree>
    <p:extLst>
      <p:ext uri="{BB962C8B-B14F-4D97-AF65-F5344CB8AC3E}">
        <p14:creationId xmlns:p14="http://schemas.microsoft.com/office/powerpoint/2010/main" val="5339432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  <p:sndAc>
          <p:stSnd>
            <p:snd r:embed="rId3" name="hammer.wav"/>
          </p:stSnd>
        </p:sndAc>
      </p:transition>
    </mc:Choice>
    <mc:Fallback xmlns="">
      <p:transition spd="slow">
        <p:fade/>
        <p:sndAc>
          <p:stSnd>
            <p:snd r:embed="rId6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7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C0BD13-5900-50AB-4D9E-51F0296A2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8395" y="4991513"/>
            <a:ext cx="5234867" cy="114715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</a:t>
            </a:r>
            <a:r>
              <a:rPr lang="en-US" sz="4800" b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projekt</a:t>
            </a: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felépítése</a:t>
            </a:r>
            <a:endParaRPr lang="en-US" sz="48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20267F5-D4E6-477A-A590-81F2ABD1B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5109" y="2382976"/>
            <a:ext cx="1920240" cy="192024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B6FE6A8-3E05-4C40-9190-B19BFD524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4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Kép 10" descr="File:SQLite370.svg - Wikimedia Commons">
            <a:extLst>
              <a:ext uri="{FF2B5EF4-FFF2-40B4-BE49-F238E27FC236}">
                <a16:creationId xmlns:a16="http://schemas.microsoft.com/office/drawing/2014/main" id="{E5E18263-3810-FEDE-569B-C9B57EA22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535" y="355094"/>
            <a:ext cx="2091710" cy="988333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315451-BA4E-4F56-BA8A-9CCCA5A0D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288331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665E03E-3504-4366-BFC7-0CDEDC637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9701" y="2547568"/>
            <a:ext cx="1591056" cy="1591056"/>
          </a:xfrm>
          <a:custGeom>
            <a:avLst/>
            <a:gdLst>
              <a:gd name="connsiteX0" fmla="*/ 795528 w 1591056"/>
              <a:gd name="connsiteY0" fmla="*/ 0 h 1591056"/>
              <a:gd name="connsiteX1" fmla="*/ 1591056 w 1591056"/>
              <a:gd name="connsiteY1" fmla="*/ 795528 h 1591056"/>
              <a:gd name="connsiteX2" fmla="*/ 795528 w 1591056"/>
              <a:gd name="connsiteY2" fmla="*/ 1591056 h 1591056"/>
              <a:gd name="connsiteX3" fmla="*/ 0 w 1591056"/>
              <a:gd name="connsiteY3" fmla="*/ 795528 h 1591056"/>
              <a:gd name="connsiteX4" fmla="*/ 795528 w 1591056"/>
              <a:gd name="connsiteY4" fmla="*/ 0 h 1591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056" h="1591056">
                <a:moveTo>
                  <a:pt x="795528" y="0"/>
                </a:moveTo>
                <a:cubicBezTo>
                  <a:pt x="1234886" y="0"/>
                  <a:pt x="1591056" y="356170"/>
                  <a:pt x="1591056" y="795528"/>
                </a:cubicBezTo>
                <a:cubicBezTo>
                  <a:pt x="1591056" y="1234886"/>
                  <a:pt x="1234886" y="1591056"/>
                  <a:pt x="795528" y="1591056"/>
                </a:cubicBezTo>
                <a:cubicBezTo>
                  <a:pt x="356170" y="1591056"/>
                  <a:pt x="0" y="1234886"/>
                  <a:pt x="0" y="795528"/>
                </a:cubicBezTo>
                <a:cubicBezTo>
                  <a:pt x="0" y="356170"/>
                  <a:pt x="356170" y="0"/>
                  <a:pt x="7955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9207" y="303879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9A95DA0-8F7C-4AB7-B890-22075705D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93799" y="468471"/>
            <a:ext cx="2852928" cy="2852928"/>
          </a:xfrm>
          <a:custGeom>
            <a:avLst/>
            <a:gdLst>
              <a:gd name="connsiteX0" fmla="*/ 1426464 w 2852928"/>
              <a:gd name="connsiteY0" fmla="*/ 0 h 2852928"/>
              <a:gd name="connsiteX1" fmla="*/ 2852928 w 2852928"/>
              <a:gd name="connsiteY1" fmla="*/ 1426464 h 2852928"/>
              <a:gd name="connsiteX2" fmla="*/ 1426464 w 2852928"/>
              <a:gd name="connsiteY2" fmla="*/ 2852928 h 2852928"/>
              <a:gd name="connsiteX3" fmla="*/ 0 w 2852928"/>
              <a:gd name="connsiteY3" fmla="*/ 1426464 h 2852928"/>
              <a:gd name="connsiteX4" fmla="*/ 1426464 w 2852928"/>
              <a:gd name="connsiteY4" fmla="*/ 0 h 2852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Kép 4" descr="java programming language java logo 48332150 PNG">
            <a:extLst>
              <a:ext uri="{FF2B5EF4-FFF2-40B4-BE49-F238E27FC236}">
                <a16:creationId xmlns:a16="http://schemas.microsoft.com/office/drawing/2014/main" id="{F945AC60-827E-590F-EAF8-0C3F721D3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176" y="850509"/>
            <a:ext cx="1961912" cy="1961912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2193FF3-0731-4CB1-A0ED-1F3321A42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1"/>
            <a:ext cx="3273238" cy="3383891"/>
          </a:xfrm>
          <a:custGeom>
            <a:avLst/>
            <a:gdLst>
              <a:gd name="connsiteX0" fmla="*/ 122841 w 3273238"/>
              <a:gd name="connsiteY0" fmla="*/ 0 h 3383891"/>
              <a:gd name="connsiteX1" fmla="*/ 3273238 w 3273238"/>
              <a:gd name="connsiteY1" fmla="*/ 0 h 3383891"/>
              <a:gd name="connsiteX2" fmla="*/ 3273238 w 3273238"/>
              <a:gd name="connsiteY2" fmla="*/ 3291335 h 3383891"/>
              <a:gd name="connsiteX3" fmla="*/ 3118338 w 3273238"/>
              <a:gd name="connsiteY3" fmla="*/ 3331164 h 3383891"/>
              <a:gd name="connsiteX4" fmla="*/ 2595295 w 3273238"/>
              <a:gd name="connsiteY4" fmla="*/ 3383891 h 3383891"/>
              <a:gd name="connsiteX5" fmla="*/ 0 w 3273238"/>
              <a:gd name="connsiteY5" fmla="*/ 788596 h 3383891"/>
              <a:gd name="connsiteX6" fmla="*/ 116679 w 3273238"/>
              <a:gd name="connsiteY6" fmla="*/ 16835 h 338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3" name="Kép 12" descr="File:IntelliJ IDEA Icon.svg - Wikimedia Commons">
            <a:extLst>
              <a:ext uri="{FF2B5EF4-FFF2-40B4-BE49-F238E27FC236}">
                <a16:creationId xmlns:a16="http://schemas.microsoft.com/office/drawing/2014/main" id="{E210B40E-8E89-CB5B-EDF1-E02D16A9D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180" y="311877"/>
            <a:ext cx="1973358" cy="1973358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1CCC4E2-0E38-41AA-A1C5-DBB034387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3238" y="4071322"/>
            <a:ext cx="2828765" cy="2786678"/>
          </a:xfrm>
          <a:custGeom>
            <a:avLst/>
            <a:gdLst>
              <a:gd name="connsiteX0" fmla="*/ 1888236 w 2828765"/>
              <a:gd name="connsiteY0" fmla="*/ 0 h 2786678"/>
              <a:gd name="connsiteX1" fmla="*/ 2788281 w 2828765"/>
              <a:gd name="connsiteY1" fmla="*/ 227900 h 2786678"/>
              <a:gd name="connsiteX2" fmla="*/ 2828765 w 2828765"/>
              <a:gd name="connsiteY2" fmla="*/ 252495 h 2786678"/>
              <a:gd name="connsiteX3" fmla="*/ 2828765 w 2828765"/>
              <a:gd name="connsiteY3" fmla="*/ 2786678 h 2786678"/>
              <a:gd name="connsiteX4" fmla="*/ 227128 w 2828765"/>
              <a:gd name="connsiteY4" fmla="*/ 2786678 h 2786678"/>
              <a:gd name="connsiteX5" fmla="*/ 148387 w 2828765"/>
              <a:gd name="connsiteY5" fmla="*/ 2623223 h 2786678"/>
              <a:gd name="connsiteX6" fmla="*/ 0 w 2828765"/>
              <a:gd name="connsiteY6" fmla="*/ 1888236 h 2786678"/>
              <a:gd name="connsiteX7" fmla="*/ 1888236 w 2828765"/>
              <a:gd name="connsiteY7" fmla="*/ 0 h 278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" name="Kép 19" descr="GitHub Logo, symbol, meaning, history, PNG, brand">
            <a:extLst>
              <a:ext uri="{FF2B5EF4-FFF2-40B4-BE49-F238E27FC236}">
                <a16:creationId xmlns:a16="http://schemas.microsoft.com/office/drawing/2014/main" id="{B2ECAE2E-C70A-D561-86EF-1A2A076CCD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762" y="3419140"/>
            <a:ext cx="2593358" cy="1458763"/>
          </a:xfrm>
          <a:prstGeom prst="rect">
            <a:avLst/>
          </a:prstGeom>
        </p:spPr>
      </p:pic>
      <p:pic>
        <p:nvPicPr>
          <p:cNvPr id="18" name="Kép 17" descr="Git Logo PNG Vector (SVG) Free Download">
            <a:extLst>
              <a:ext uri="{FF2B5EF4-FFF2-40B4-BE49-F238E27FC236}">
                <a16:creationId xmlns:a16="http://schemas.microsoft.com/office/drawing/2014/main" id="{6D51EF6C-595D-189A-A9E6-B45351C518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966" y="4813692"/>
            <a:ext cx="1631215" cy="1631215"/>
          </a:xfrm>
          <a:prstGeom prst="rect">
            <a:avLst/>
          </a:prstGeom>
        </p:spPr>
      </p:pic>
      <p:pic>
        <p:nvPicPr>
          <p:cNvPr id="9" name="Kép 8" descr="Maven Icon | Free Download PNG &amp; SVG | SVG Logos">
            <a:extLst>
              <a:ext uri="{FF2B5EF4-FFF2-40B4-BE49-F238E27FC236}">
                <a16:creationId xmlns:a16="http://schemas.microsoft.com/office/drawing/2014/main" id="{56CD63D4-E2DF-F2DE-C32B-08661D8081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6073" y="2729897"/>
            <a:ext cx="1278312" cy="1278312"/>
          </a:xfrm>
          <a:prstGeom prst="rect">
            <a:avLst/>
          </a:prstGeom>
        </p:spPr>
      </p:pic>
      <p:pic>
        <p:nvPicPr>
          <p:cNvPr id="12" name="Kép 11" descr="Fix html css javascript for website logo #39398 - Free Transparent PNG Logos">
            <a:extLst>
              <a:ext uri="{FF2B5EF4-FFF2-40B4-BE49-F238E27FC236}">
                <a16:creationId xmlns:a16="http://schemas.microsoft.com/office/drawing/2014/main" id="{09D1450F-1322-5BC2-FD1B-FD29223DD9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7155" y="5046079"/>
            <a:ext cx="2293816" cy="134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76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 dir="vert"/>
    <p:sndAc>
      <p:stSnd>
        <p:snd r:embed="rId2" name="push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640080" y="457200"/>
            <a:ext cx="109728" cy="749808"/>
          </a:xfrm>
          <a:prstGeom prst="rect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896112" y="568003"/>
            <a:ext cx="106527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3600" b="1">
                <a:solidFill>
                  <a:srgbClr val="1C1C1C"/>
                </a:solidFill>
                <a:latin typeface="Aptos"/>
              </a:rPr>
              <a:t>A projekt felépítése</a:t>
            </a:r>
            <a:endParaRPr sz="3600" b="1">
              <a:solidFill>
                <a:srgbClr val="1C1C1C"/>
              </a:solidFill>
              <a:latin typeface="Aptos"/>
            </a:endParaRPr>
          </a:p>
        </p:txBody>
      </p:sp>
      <p:grpSp>
        <p:nvGrpSpPr>
          <p:cNvPr id="29" name="Csoportba foglalás 28">
            <a:extLst>
              <a:ext uri="{FF2B5EF4-FFF2-40B4-BE49-F238E27FC236}">
                <a16:creationId xmlns:a16="http://schemas.microsoft.com/office/drawing/2014/main" id="{C33AC095-C1A2-D777-A5D7-D29E5B02D2B4}"/>
              </a:ext>
            </a:extLst>
          </p:cNvPr>
          <p:cNvGrpSpPr/>
          <p:nvPr/>
        </p:nvGrpSpPr>
        <p:grpSpPr>
          <a:xfrm>
            <a:off x="829997" y="1967033"/>
            <a:ext cx="2743783" cy="2811447"/>
            <a:chOff x="826187" y="1335024"/>
            <a:chExt cx="2743783" cy="2811447"/>
          </a:xfrm>
        </p:grpSpPr>
        <p:sp>
          <p:nvSpPr>
            <p:cNvPr id="5" name="TextBox 4"/>
            <p:cNvSpPr txBox="1"/>
            <p:nvPr/>
          </p:nvSpPr>
          <p:spPr>
            <a:xfrm>
              <a:off x="1254432" y="1335024"/>
              <a:ext cx="1887877" cy="4001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1C1C1C"/>
                  </a:solidFill>
                  <a:latin typeface="Aptos"/>
                </a:rPr>
                <a:t>Frontend</a:t>
              </a:r>
            </a:p>
          </p:txBody>
        </p:sp>
        <p:cxnSp>
          <p:nvCxnSpPr>
            <p:cNvPr id="6" name="Connector 5"/>
            <p:cNvCxnSpPr>
              <a:cxnSpLocks/>
            </p:cNvCxnSpPr>
            <p:nvPr/>
          </p:nvCxnSpPr>
          <p:spPr>
            <a:xfrm>
              <a:off x="826770" y="1874519"/>
              <a:ext cx="2743200" cy="0"/>
            </a:xfrm>
            <a:prstGeom prst="line">
              <a:avLst/>
            </a:prstGeom>
            <a:ln w="25400">
              <a:solidFill>
                <a:srgbClr val="D973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055558" y="2103120"/>
              <a:ext cx="2285625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BE5319"/>
                  </a:solidFill>
                  <a:latin typeface="Aptos"/>
                </a:rPr>
                <a:t>HTML · CSS · JavaScript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6187" y="3229425"/>
              <a:ext cx="2743200" cy="91704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err="1">
                  <a:solidFill>
                    <a:srgbClr val="1C1C1C"/>
                  </a:solidFill>
                  <a:latin typeface="Aptos"/>
                </a:rPr>
                <a:t>Oldalak</a:t>
              </a:r>
              <a:r>
                <a:rPr sz="1800" b="1">
                  <a:solidFill>
                    <a:srgbClr val="1C1C1C"/>
                  </a:solidFill>
                  <a:latin typeface="Aptos"/>
                </a:rPr>
                <a:t> </a:t>
              </a:r>
              <a:r>
                <a:rPr sz="1800" b="1" err="1">
                  <a:solidFill>
                    <a:srgbClr val="1C1C1C"/>
                  </a:solidFill>
                  <a:latin typeface="Aptos"/>
                </a:rPr>
                <a:t>és</a:t>
              </a:r>
              <a:r>
                <a:rPr sz="1800" b="1">
                  <a:solidFill>
                    <a:srgbClr val="1C1C1C"/>
                  </a:solidFill>
                  <a:latin typeface="Aptos"/>
                </a:rPr>
                <a:t> </a:t>
              </a:r>
              <a:r>
                <a:rPr sz="1800" b="1" err="1">
                  <a:solidFill>
                    <a:srgbClr val="1C1C1C"/>
                  </a:solidFill>
                  <a:latin typeface="Aptos"/>
                </a:rPr>
                <a:t>űrlapok</a:t>
              </a:r>
              <a:endParaRPr sz="1800" b="1">
                <a:solidFill>
                  <a:srgbClr val="1C1C1C"/>
                </a:solidFill>
                <a:latin typeface="Aptos"/>
              </a:endParaRPr>
            </a:p>
            <a:p>
              <a:pPr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err="1">
                  <a:solidFill>
                    <a:srgbClr val="1C1C1C"/>
                  </a:solidFill>
                  <a:latin typeface="Aptos"/>
                </a:rPr>
                <a:t>Rendezvénylista</a:t>
              </a:r>
              <a:endParaRPr sz="1800" b="1">
                <a:solidFill>
                  <a:srgbClr val="1C1C1C"/>
                </a:solidFill>
                <a:latin typeface="Aptos"/>
              </a:endParaRPr>
            </a:p>
            <a:p>
              <a:pPr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err="1">
                  <a:solidFill>
                    <a:srgbClr val="1C1C1C"/>
                  </a:solidFill>
                  <a:latin typeface="Aptos"/>
                </a:rPr>
                <a:t>Foglalási</a:t>
              </a:r>
              <a:r>
                <a:rPr sz="1800" b="1">
                  <a:solidFill>
                    <a:srgbClr val="1C1C1C"/>
                  </a:solidFill>
                  <a:latin typeface="Aptos"/>
                </a:rPr>
                <a:t> </a:t>
              </a:r>
              <a:r>
                <a:rPr sz="1800" b="1" err="1">
                  <a:solidFill>
                    <a:srgbClr val="1C1C1C"/>
                  </a:solidFill>
                  <a:latin typeface="Aptos"/>
                </a:rPr>
                <a:t>felület</a:t>
              </a:r>
              <a:endParaRPr sz="1800" b="1">
                <a:solidFill>
                  <a:srgbClr val="1C1C1C"/>
                </a:solidFill>
                <a:latin typeface="Aptos"/>
              </a:endParaRP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DD959557-F397-1722-6563-C94C32EE3573}"/>
              </a:ext>
            </a:extLst>
          </p:cNvPr>
          <p:cNvGrpSpPr/>
          <p:nvPr/>
        </p:nvGrpSpPr>
        <p:grpSpPr>
          <a:xfrm>
            <a:off x="4404360" y="1967033"/>
            <a:ext cx="2743200" cy="2516234"/>
            <a:chOff x="4396740" y="1335024"/>
            <a:chExt cx="2743200" cy="2516234"/>
          </a:xfrm>
        </p:grpSpPr>
        <p:sp>
          <p:nvSpPr>
            <p:cNvPr id="11" name="TextBox 10"/>
            <p:cNvSpPr txBox="1"/>
            <p:nvPr/>
          </p:nvSpPr>
          <p:spPr>
            <a:xfrm>
              <a:off x="5007012" y="1335024"/>
              <a:ext cx="1522657" cy="4001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1C1C1C"/>
                  </a:solidFill>
                  <a:latin typeface="Aptos"/>
                </a:rPr>
                <a:t>Backend</a:t>
              </a:r>
            </a:p>
          </p:txBody>
        </p:sp>
        <p:cxnSp>
          <p:nvCxnSpPr>
            <p:cNvPr id="12" name="Connector 11"/>
            <p:cNvCxnSpPr>
              <a:cxnSpLocks/>
            </p:cNvCxnSpPr>
            <p:nvPr/>
          </p:nvCxnSpPr>
          <p:spPr>
            <a:xfrm>
              <a:off x="4396740" y="1874519"/>
              <a:ext cx="2743200" cy="0"/>
            </a:xfrm>
            <a:prstGeom prst="line">
              <a:avLst/>
            </a:prstGeom>
            <a:ln w="25400">
              <a:solidFill>
                <a:srgbClr val="D973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396740" y="2103120"/>
              <a:ext cx="2743200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BE5319"/>
                  </a:solidFill>
                  <a:latin typeface="Aptos"/>
                </a:rPr>
                <a:t>Java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96740" y="3263725"/>
              <a:ext cx="2743200" cy="5875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1C1C1C"/>
                  </a:solidFill>
                  <a:latin typeface="Aptos"/>
                </a:rPr>
                <a:t>Controller · Service</a:t>
              </a:r>
            </a:p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1C1C1C"/>
                  </a:solidFill>
                  <a:latin typeface="Aptos"/>
                </a:rPr>
                <a:t>Validation · Security</a:t>
              </a: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AE487CEF-62A4-07C5-50AD-6D415A3FFB47}"/>
              </a:ext>
            </a:extLst>
          </p:cNvPr>
          <p:cNvGrpSpPr/>
          <p:nvPr/>
        </p:nvGrpSpPr>
        <p:grpSpPr>
          <a:xfrm>
            <a:off x="7978140" y="1967033"/>
            <a:ext cx="3570732" cy="2860434"/>
            <a:chOff x="7966710" y="1335024"/>
            <a:chExt cx="3570732" cy="2860434"/>
          </a:xfrm>
        </p:grpSpPr>
        <p:sp>
          <p:nvSpPr>
            <p:cNvPr id="17" name="TextBox 16"/>
            <p:cNvSpPr txBox="1"/>
            <p:nvPr/>
          </p:nvSpPr>
          <p:spPr>
            <a:xfrm>
              <a:off x="8446770" y="1335024"/>
              <a:ext cx="2423160" cy="4001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1C1C1C"/>
                  </a:solidFill>
                  <a:latin typeface="Aptos"/>
                </a:rPr>
                <a:t>Adatbázis</a:t>
              </a:r>
            </a:p>
          </p:txBody>
        </p:sp>
        <p:cxnSp>
          <p:nvCxnSpPr>
            <p:cNvPr id="18" name="Connector 17"/>
            <p:cNvCxnSpPr>
              <a:cxnSpLocks/>
            </p:cNvCxnSpPr>
            <p:nvPr/>
          </p:nvCxnSpPr>
          <p:spPr>
            <a:xfrm>
              <a:off x="7966710" y="1874519"/>
              <a:ext cx="3383281" cy="0"/>
            </a:xfrm>
            <a:prstGeom prst="line">
              <a:avLst/>
            </a:prstGeom>
            <a:ln w="25400">
              <a:solidFill>
                <a:srgbClr val="D973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8035290" y="2103120"/>
              <a:ext cx="3246120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BE5319"/>
                  </a:solidFill>
                  <a:latin typeface="Aptos"/>
                </a:rPr>
                <a:t>SQLite 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72450" y="3116765"/>
              <a:ext cx="297180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err="1">
                  <a:solidFill>
                    <a:srgbClr val="1C1C1C"/>
                  </a:solidFill>
                  <a:latin typeface="Aptos"/>
                </a:rPr>
                <a:t>Egyetlen</a:t>
              </a:r>
              <a:r>
                <a:rPr sz="1800" b="1">
                  <a:solidFill>
                    <a:srgbClr val="1C1C1C"/>
                  </a:solidFill>
                  <a:latin typeface="Aptos"/>
                </a:rPr>
                <a:t> </a:t>
              </a:r>
              <a:r>
                <a:rPr sz="1800" b="1" err="1">
                  <a:solidFill>
                    <a:srgbClr val="1C1C1C"/>
                  </a:solidFill>
                  <a:latin typeface="Aptos"/>
                </a:rPr>
                <a:t>adatbázisfájl</a:t>
              </a:r>
              <a:endParaRPr sz="1800" b="1">
                <a:solidFill>
                  <a:srgbClr val="1C1C1C"/>
                </a:solidFill>
                <a:latin typeface="Aptos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702802" y="3393764"/>
              <a:ext cx="2834640" cy="8016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 err="1">
                  <a:solidFill>
                    <a:srgbClr val="1C1C1C"/>
                  </a:solidFill>
                  <a:latin typeface="Aptos"/>
                </a:rPr>
                <a:t>Felhasználók</a:t>
              </a:r>
              <a:endParaRPr sz="1600" b="0">
                <a:solidFill>
                  <a:srgbClr val="1C1C1C"/>
                </a:solidFill>
                <a:latin typeface="Aptos"/>
              </a:endParaRPr>
            </a:p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 err="1">
                  <a:solidFill>
                    <a:srgbClr val="1C1C1C"/>
                  </a:solidFill>
                  <a:latin typeface="Aptos"/>
                </a:rPr>
                <a:t>Rendezvények</a:t>
              </a:r>
              <a:endParaRPr sz="1600" b="0">
                <a:solidFill>
                  <a:srgbClr val="1C1C1C"/>
                </a:solidFill>
                <a:latin typeface="Aptos"/>
              </a:endParaRPr>
            </a:p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 err="1">
                  <a:solidFill>
                    <a:srgbClr val="1C1C1C"/>
                  </a:solidFill>
                  <a:latin typeface="Aptos"/>
                </a:rPr>
                <a:t>Foglalások</a:t>
              </a:r>
              <a:endParaRPr sz="1600" b="0">
                <a:solidFill>
                  <a:srgbClr val="1C1C1C"/>
                </a:solidFill>
                <a:latin typeface="Aptos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764492" y="225802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732F"/>
                </a:solidFill>
                <a:latin typeface="Aptos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5680" y="22380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732F"/>
                </a:solidFill>
                <a:latin typeface="Aptos"/>
              </a:rPr>
              <a:t>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5943600"/>
            <a:ext cx="10515600" cy="0"/>
          </a:xfrm>
          <a:prstGeom prst="line">
            <a:avLst/>
          </a:prstGeom>
          <a:ln w="12700">
            <a:solidFill>
              <a:srgbClr val="E8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  <p:sndAc>
          <p:stSnd>
            <p:snd r:embed="rId3" name="whoosh.wav"/>
          </p:stSnd>
        </p:sndAc>
      </p:transition>
    </mc:Choice>
    <mc:Fallback xmlns="">
      <p:transition spd="slow">
        <p:fade/>
        <p:sndAc>
          <p:stSnd>
            <p:snd r:embed="rId4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">
            <a:extLst>
              <a:ext uri="{FF2B5EF4-FFF2-40B4-BE49-F238E27FC236}">
                <a16:creationId xmlns:a16="http://schemas.microsoft.com/office/drawing/2014/main" id="{D0669373-ADFF-B4C7-073D-4CAE3CB67EB2}"/>
              </a:ext>
            </a:extLst>
          </p:cNvPr>
          <p:cNvSpPr/>
          <p:nvPr/>
        </p:nvSpPr>
        <p:spPr>
          <a:xfrm>
            <a:off x="0" y="5951473"/>
            <a:ext cx="12241095" cy="9150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886200" cy="5951474"/>
          </a:xfrm>
          <a:prstGeom prst="rect">
            <a:avLst/>
          </a:prstGeom>
          <a:solidFill>
            <a:srgbClr val="D9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FEJLESZTŐI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MUNKAFOLYAMAT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6836"/>
            <a:ext cx="260604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Kód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Build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Megosztás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7408" y="475488"/>
            <a:ext cx="705916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3600" b="1">
                <a:solidFill>
                  <a:srgbClr val="1C1C1C"/>
                </a:solidFill>
                <a:latin typeface="Aptos"/>
              </a:rPr>
              <a:t>Három fő fejlesztői eszköz</a:t>
            </a:r>
            <a:endParaRPr sz="3600" b="1">
              <a:solidFill>
                <a:srgbClr val="1C1C1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43984" y="1757427"/>
            <a:ext cx="43891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E5319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2352" y="1675131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1C1C"/>
                </a:solidFill>
                <a:latin typeface="Aptos"/>
              </a:rPr>
              <a:t>INTELLIJ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7059" y="1693419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err="1">
                <a:solidFill>
                  <a:srgbClr val="BE5319"/>
                </a:solidFill>
                <a:latin typeface="Aptos"/>
              </a:rPr>
              <a:t>Fejlesztés</a:t>
            </a:r>
            <a:r>
              <a:rPr sz="1800" b="1">
                <a:solidFill>
                  <a:srgbClr val="BE5319"/>
                </a:solidFill>
                <a:latin typeface="Aptos"/>
              </a:rPr>
              <a:t> </a:t>
            </a:r>
            <a:r>
              <a:rPr sz="1800" b="1" err="1">
                <a:solidFill>
                  <a:srgbClr val="BE5319"/>
                </a:solidFill>
                <a:latin typeface="Aptos"/>
              </a:rPr>
              <a:t>és</a:t>
            </a:r>
            <a:r>
              <a:rPr sz="1800" b="1">
                <a:solidFill>
                  <a:srgbClr val="BE5319"/>
                </a:solidFill>
                <a:latin typeface="Aptos"/>
              </a:rPr>
              <a:t> </a:t>
            </a:r>
            <a:r>
              <a:rPr sz="1800" b="1" err="1">
                <a:solidFill>
                  <a:srgbClr val="BE5319"/>
                </a:solidFill>
                <a:latin typeface="Aptos"/>
              </a:rPr>
              <a:t>hibakeresés</a:t>
            </a:r>
            <a:endParaRPr sz="1800" b="1">
              <a:solidFill>
                <a:srgbClr val="BE5319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02352" y="2078159"/>
            <a:ext cx="5715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5C5C"/>
                </a:solidFill>
                <a:latin typeface="Aptos"/>
              </a:rPr>
              <a:t>Java</a:t>
            </a:r>
            <a:r>
              <a:rPr lang="hu-HU" sz="1600" b="0">
                <a:solidFill>
                  <a:srgbClr val="5C5C5C"/>
                </a:solidFill>
                <a:latin typeface="Aptos"/>
              </a:rPr>
              <a:t> </a:t>
            </a:r>
            <a:r>
              <a:rPr sz="1600" b="0" err="1">
                <a:solidFill>
                  <a:srgbClr val="5C5C5C"/>
                </a:solidFill>
                <a:latin typeface="Aptos"/>
              </a:rPr>
              <a:t>futtatás</a:t>
            </a:r>
            <a:endParaRPr sz="1600" b="0">
              <a:solidFill>
                <a:srgbClr val="5C5C5C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443984" y="2918715"/>
            <a:ext cx="6693408" cy="0"/>
          </a:xfrm>
          <a:prstGeom prst="line">
            <a:avLst/>
          </a:prstGeom>
          <a:ln w="12700">
            <a:solidFill>
              <a:srgbClr val="E8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43984" y="3375915"/>
            <a:ext cx="43891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E5319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3293619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1C1C"/>
                </a:solidFill>
                <a:latin typeface="Aptos"/>
              </a:rPr>
              <a:t>MAVEN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7059" y="3311907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E5319"/>
                </a:solidFill>
                <a:latin typeface="Aptos"/>
              </a:rPr>
              <a:t>Függőségek és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3638777"/>
            <a:ext cx="57150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err="1">
                <a:solidFill>
                  <a:srgbClr val="5C5C5C"/>
                </a:solidFill>
                <a:latin typeface="Aptos"/>
              </a:rPr>
              <a:t>Fordítás</a:t>
            </a:r>
            <a:endParaRPr lang="hu-HU" sz="1600">
              <a:solidFill>
                <a:srgbClr val="5C5C5C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600">
                <a:solidFill>
                  <a:srgbClr val="5C5C5C"/>
                </a:solidFill>
                <a:latin typeface="Aptos"/>
              </a:rPr>
              <a:t>T</a:t>
            </a:r>
            <a:r>
              <a:rPr sz="1600" b="0" err="1">
                <a:solidFill>
                  <a:srgbClr val="5C5C5C"/>
                </a:solidFill>
                <a:latin typeface="Aptos"/>
              </a:rPr>
              <a:t>esztelés</a:t>
            </a:r>
            <a:endParaRPr lang="hu-HU" sz="1600">
              <a:solidFill>
                <a:srgbClr val="5C5C5C"/>
              </a:solidFill>
              <a:latin typeface="Apto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600">
                <a:solidFill>
                  <a:srgbClr val="5C5C5C"/>
                </a:solidFill>
                <a:latin typeface="Aptos"/>
              </a:rPr>
              <a:t>C</a:t>
            </a:r>
            <a:r>
              <a:rPr sz="1600" b="0" err="1">
                <a:solidFill>
                  <a:srgbClr val="5C5C5C"/>
                </a:solidFill>
                <a:latin typeface="Aptos"/>
              </a:rPr>
              <a:t>somagolás</a:t>
            </a:r>
            <a:endParaRPr sz="1600" b="0">
              <a:solidFill>
                <a:srgbClr val="5C5C5C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4443984" y="4537203"/>
            <a:ext cx="6693408" cy="0"/>
          </a:xfrm>
          <a:prstGeom prst="line">
            <a:avLst/>
          </a:prstGeom>
          <a:ln w="12700">
            <a:solidFill>
              <a:srgbClr val="E8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43984" y="4994403"/>
            <a:ext cx="43891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E5319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4912107"/>
            <a:ext cx="22402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1C1C"/>
                </a:solidFill>
                <a:latin typeface="Aptos"/>
              </a:rPr>
              <a:t>GIT</a:t>
            </a:r>
            <a:r>
              <a:rPr lang="hu-HU" sz="2200" b="1">
                <a:solidFill>
                  <a:srgbClr val="1C1C1C"/>
                </a:solidFill>
                <a:latin typeface="Aptos"/>
              </a:rPr>
              <a:t> + GitHub</a:t>
            </a:r>
            <a:endParaRPr sz="2200" b="1">
              <a:solidFill>
                <a:srgbClr val="1C1C1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47059" y="4930394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err="1">
                <a:solidFill>
                  <a:srgbClr val="BE5319"/>
                </a:solidFill>
                <a:latin typeface="Aptos"/>
              </a:rPr>
              <a:t>Verziókezelés</a:t>
            </a:r>
            <a:endParaRPr sz="1800" b="1">
              <a:solidFill>
                <a:srgbClr val="BE5319"/>
              </a:solidFill>
              <a:latin typeface="Aptos"/>
            </a:endParaRPr>
          </a:p>
        </p:txBody>
      </p:sp>
      <p:pic>
        <p:nvPicPr>
          <p:cNvPr id="21" name="Kép 20" descr="File:IntelliJ IDEA Icon.svg - Wikimedia Commons">
            <a:extLst>
              <a:ext uri="{FF2B5EF4-FFF2-40B4-BE49-F238E27FC236}">
                <a16:creationId xmlns:a16="http://schemas.microsoft.com/office/drawing/2014/main" id="{9FB3F5EA-DF3F-DA85-A779-DF62BADC1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726" y="6095991"/>
            <a:ext cx="587175" cy="587175"/>
          </a:xfrm>
          <a:prstGeom prst="rect">
            <a:avLst/>
          </a:prstGeom>
        </p:spPr>
      </p:pic>
      <p:pic>
        <p:nvPicPr>
          <p:cNvPr id="22" name="Kép 21" descr="GitHub Logo, symbol, meaning, history, PNG, brand">
            <a:extLst>
              <a:ext uri="{FF2B5EF4-FFF2-40B4-BE49-F238E27FC236}">
                <a16:creationId xmlns:a16="http://schemas.microsoft.com/office/drawing/2014/main" id="{27E9DEA7-7BFC-FE1C-ADF3-6CAA2CC565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7448" y="6032159"/>
            <a:ext cx="1270828" cy="714840"/>
          </a:xfrm>
          <a:prstGeom prst="rect">
            <a:avLst/>
          </a:prstGeom>
        </p:spPr>
      </p:pic>
      <p:pic>
        <p:nvPicPr>
          <p:cNvPr id="23" name="Kép 22" descr="Git Logo PNG Vector (SVG) Free Download">
            <a:extLst>
              <a:ext uri="{FF2B5EF4-FFF2-40B4-BE49-F238E27FC236}">
                <a16:creationId xmlns:a16="http://schemas.microsoft.com/office/drawing/2014/main" id="{52FD4B94-BF4C-44F6-565F-2527F6A316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691" y="5876490"/>
            <a:ext cx="1065031" cy="1065031"/>
          </a:xfrm>
          <a:prstGeom prst="rect">
            <a:avLst/>
          </a:prstGeom>
        </p:spPr>
      </p:pic>
      <p:pic>
        <p:nvPicPr>
          <p:cNvPr id="24" name="Kép 23" descr="Maven Icon | Free Download PNG &amp; SVG | SVG Logos">
            <a:extLst>
              <a:ext uri="{FF2B5EF4-FFF2-40B4-BE49-F238E27FC236}">
                <a16:creationId xmlns:a16="http://schemas.microsoft.com/office/drawing/2014/main" id="{B5BFDA75-E3DD-9324-44D2-6E13ACA0E0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4627" y="5833837"/>
            <a:ext cx="1150338" cy="1150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  <p:sndAc>
          <p:stSnd>
            <p:snd r:embed="rId3" name="explode.wav"/>
          </p:stSnd>
        </p:sndAc>
      </p:transition>
    </mc:Choice>
    <mc:Fallback xmlns="">
      <p:transition spd="slow">
        <p:fade/>
        <p:sndAc>
          <p:stSnd>
            <p:snd r:embed="rId8" name="explode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7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DE3C6-02C8-D941-0679-99D185C3B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919018"/>
            <a:ext cx="10515600" cy="1325563"/>
          </a:xfrm>
        </p:spPr>
        <p:txBody>
          <a:bodyPr/>
          <a:lstStyle/>
          <a:p>
            <a:pPr algn="ctr"/>
            <a:r>
              <a:rPr lang="hu-HU" b="1">
                <a:latin typeface="+mn-lt"/>
              </a:rPr>
              <a:t>Köszönjük a figyelmet!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2486AE-5021-ABB9-6EAB-D543018AD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481" y="1715007"/>
            <a:ext cx="3387505" cy="33875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0178CF-ACA9-7443-8BBB-ACC9AA00A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5364" y="625811"/>
            <a:ext cx="2947482" cy="29474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46995E-A06B-E3C7-EA0D-D67BFA152B3F}"/>
              </a:ext>
            </a:extLst>
          </p:cNvPr>
          <p:cNvSpPr txBox="1"/>
          <p:nvPr/>
        </p:nvSpPr>
        <p:spPr>
          <a:xfrm>
            <a:off x="8854965" y="6385034"/>
            <a:ext cx="33107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C47840"/>
                </a:solidFill>
              </a:rPr>
              <a:t>patrik.fazekas05@gmail.com</a:t>
            </a:r>
          </a:p>
        </p:txBody>
      </p:sp>
    </p:spTree>
    <p:extLst>
      <p:ext uri="{BB962C8B-B14F-4D97-AF65-F5344CB8AC3E}">
        <p14:creationId xmlns:p14="http://schemas.microsoft.com/office/powerpoint/2010/main" val="33099454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curtains"/>
        <p:sndAc>
          <p:stSnd>
            <p:snd r:embed="rId2" name="applause.wav"/>
          </p:stSnd>
        </p:sndAc>
      </p:transition>
    </mc:Choice>
    <mc:Fallback xmlns="">
      <p:transition spd="slow">
        <p:fade/>
        <p:sndAc>
          <p:stSnd>
            <p:snd r:embed="rId6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Macintosh PowerPoint</Application>
  <PresentationFormat>Szélesvásznú</PresentationFormat>
  <Paragraphs>98</Paragraphs>
  <Slides>9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Wingdings</vt:lpstr>
      <vt:lpstr>Office-téma</vt:lpstr>
      <vt:lpstr>PowerPoint-bemutató</vt:lpstr>
      <vt:lpstr>Rendezvény- és Jegyfoglalási portál</vt:lpstr>
      <vt:lpstr>A projekt fő követelményei</vt:lpstr>
      <vt:lpstr>Célközönség/felhasználói kör</vt:lpstr>
      <vt:lpstr>Tervezett működés </vt:lpstr>
      <vt:lpstr>A projekt felépítése</vt:lpstr>
      <vt:lpstr>PowerPoint-bemutató</vt:lpstr>
      <vt:lpstr>PowerPoint-bemutató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Patrik Fazekas</dc:creator>
  <cp:lastModifiedBy>Patrik Fazekas</cp:lastModifiedBy>
  <cp:revision>2</cp:revision>
  <dcterms:created xsi:type="dcterms:W3CDTF">2026-10-13T08:07:48Z</dcterms:created>
  <dcterms:modified xsi:type="dcterms:W3CDTF">2026-10-31T17:00:34Z</dcterms:modified>
</cp:coreProperties>
</file>